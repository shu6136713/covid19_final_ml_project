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5b910f492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5b910f492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5b910f492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5b910f492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5b910f492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5b910f492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5b910f492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55b910f492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5b910f492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5b910f492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5b910f492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5b910f492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5b910f492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5b910f492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5b910f492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5b910f492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5b910f492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55b910f492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5b910f492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55b910f492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/>
        </p:nvSpPr>
        <p:spPr>
          <a:xfrm>
            <a:off x="1809700" y="1798700"/>
            <a:ext cx="53727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3000">
                <a:solidFill>
                  <a:srgbClr val="BB9956"/>
                </a:solidFill>
                <a:latin typeface="Comic Sans MS"/>
                <a:ea typeface="Comic Sans MS"/>
                <a:cs typeface="Comic Sans MS"/>
                <a:sym typeface="Comic Sans MS"/>
              </a:rPr>
              <a:t>Exploratory Data Analysis</a:t>
            </a:r>
            <a:endParaRPr sz="3000">
              <a:solidFill>
                <a:srgbClr val="BB995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/>
        </p:nvSpPr>
        <p:spPr>
          <a:xfrm>
            <a:off x="2504725" y="1817250"/>
            <a:ext cx="39471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sz="3000">
                <a:solidFill>
                  <a:srgbClr val="BB9956"/>
                </a:solidFill>
                <a:latin typeface="Comic Sans MS"/>
                <a:ea typeface="Comic Sans MS"/>
                <a:cs typeface="Comic Sans MS"/>
                <a:sym typeface="Comic Sans MS"/>
              </a:rPr>
              <a:t>Visualization (Seaborn)</a:t>
            </a:r>
            <a:endParaRPr sz="3000">
              <a:solidFill>
                <a:srgbClr val="BB995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6451825" y="4051950"/>
            <a:ext cx="1881300" cy="59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Distribution of Categorical Variables</a:t>
            </a:r>
            <a:endParaRPr sz="1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5480225" y="1087375"/>
            <a:ext cx="1881300" cy="59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Feature Selection</a:t>
            </a:r>
            <a:endParaRPr sz="1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5882850" y="3089250"/>
            <a:ext cx="1881300" cy="59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Communication with Stakeholders</a:t>
            </a:r>
            <a:endParaRPr sz="1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3412525" y="457200"/>
            <a:ext cx="1881300" cy="593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Relationships Between Features</a:t>
            </a:r>
            <a:endParaRPr sz="1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819875" y="2050350"/>
            <a:ext cx="1881300" cy="59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Model Selection</a:t>
            </a:r>
            <a:endParaRPr sz="1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3212750" y="3338700"/>
            <a:ext cx="1881300" cy="593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Feature Engineering</a:t>
            </a:r>
            <a:endParaRPr sz="1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1272775" y="1498750"/>
            <a:ext cx="1881300" cy="593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Identifying Outliers</a:t>
            </a:r>
            <a:endParaRPr sz="1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687875" y="2765350"/>
            <a:ext cx="1881300" cy="593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Distribution of Continuous Variables</a:t>
            </a:r>
            <a:endParaRPr sz="1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873875" y="323300"/>
            <a:ext cx="15756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sz="1500">
                <a:solidFill>
                  <a:srgbClr val="BB9956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countplot</a:t>
            </a:r>
            <a:endParaRPr sz="1500">
              <a:solidFill>
                <a:srgbClr val="BB995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2148600" y="688925"/>
            <a:ext cx="48468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sns</a:t>
            </a:r>
            <a:r>
              <a:rPr b="1"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countplot</a:t>
            </a:r>
            <a:r>
              <a:rPr b="1"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(</a:t>
            </a: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titanic</a:t>
            </a:r>
            <a:r>
              <a:rPr b="1"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,</a:t>
            </a: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 x</a:t>
            </a:r>
            <a:r>
              <a:rPr b="1"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=</a:t>
            </a: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"class"</a:t>
            </a:r>
            <a:r>
              <a:rPr b="1"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,</a:t>
            </a: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 hue</a:t>
            </a:r>
            <a:r>
              <a:rPr b="1"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=</a:t>
            </a: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"survived"</a:t>
            </a:r>
            <a:r>
              <a:rPr b="1"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sz="1300">
              <a:solidFill>
                <a:schemeClr val="dk1"/>
              </a:solidFill>
              <a:highlight>
                <a:schemeClr val="dk2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23046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23232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6900" y="1171025"/>
            <a:ext cx="4462674" cy="338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259500" y="4559850"/>
            <a:ext cx="545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accent6"/>
                </a:solidFill>
                <a:latin typeface="Comic Sans MS"/>
                <a:ea typeface="Comic Sans MS"/>
                <a:cs typeface="Comic Sans MS"/>
                <a:sym typeface="Comic Sans MS"/>
              </a:rPr>
              <a:t>https://seaborn.pydata.org/generated/seaborn.countplot.html</a:t>
            </a:r>
            <a:endParaRPr sz="1000">
              <a:solidFill>
                <a:schemeClr val="accent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/>
        </p:nvSpPr>
        <p:spPr>
          <a:xfrm>
            <a:off x="2523275" y="1817225"/>
            <a:ext cx="39471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4028800" y="342925"/>
            <a:ext cx="8619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3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1500">
                <a:solidFill>
                  <a:srgbClr val="BB9956"/>
                </a:solidFill>
                <a:latin typeface="Comic Sans MS"/>
                <a:ea typeface="Comic Sans MS"/>
                <a:cs typeface="Comic Sans MS"/>
                <a:sym typeface="Comic Sans MS"/>
              </a:rPr>
              <a:t>barplot</a:t>
            </a:r>
            <a:endParaRPr sz="1500">
              <a:solidFill>
                <a:srgbClr val="BB995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240975" y="4513300"/>
            <a:ext cx="581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accent6"/>
                </a:solidFill>
                <a:latin typeface="Comic Sans MS"/>
                <a:ea typeface="Comic Sans MS"/>
                <a:cs typeface="Comic Sans MS"/>
                <a:sym typeface="Comic Sans MS"/>
              </a:rPr>
              <a:t>https://seaborn.pydata.org/generated/seaborn.barplot.html</a:t>
            </a:r>
            <a:endParaRPr sz="1000">
              <a:solidFill>
                <a:schemeClr val="accent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2622750" y="725475"/>
            <a:ext cx="4698600" cy="10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1"/>
                </a:solidFill>
                <a:highlight>
                  <a:srgbClr val="323232"/>
                </a:highlight>
                <a:latin typeface="Comic Sans MS"/>
                <a:ea typeface="Comic Sans MS"/>
                <a:cs typeface="Comic Sans MS"/>
                <a:sym typeface="Comic Sans MS"/>
              </a:rPr>
              <a:t>sns</a:t>
            </a:r>
            <a:r>
              <a:rPr b="1" lang="iw" sz="1300">
                <a:solidFill>
                  <a:schemeClr val="dk1"/>
                </a:solidFill>
                <a:highlight>
                  <a:srgbClr val="323232"/>
                </a:highlight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r>
              <a:rPr lang="iw" sz="1300">
                <a:solidFill>
                  <a:schemeClr val="dk1"/>
                </a:solidFill>
                <a:highlight>
                  <a:srgbClr val="323232"/>
                </a:highlight>
                <a:latin typeface="Comic Sans MS"/>
                <a:ea typeface="Comic Sans MS"/>
                <a:cs typeface="Comic Sans MS"/>
                <a:sym typeface="Comic Sans MS"/>
              </a:rPr>
              <a:t>barplot</a:t>
            </a:r>
            <a:r>
              <a:rPr b="1" lang="iw" sz="1300">
                <a:solidFill>
                  <a:schemeClr val="dk1"/>
                </a:solidFill>
                <a:highlight>
                  <a:srgbClr val="323232"/>
                </a:highlight>
                <a:latin typeface="Comic Sans MS"/>
                <a:ea typeface="Comic Sans MS"/>
                <a:cs typeface="Comic Sans MS"/>
                <a:sym typeface="Comic Sans MS"/>
              </a:rPr>
              <a:t>(</a:t>
            </a:r>
            <a:r>
              <a:rPr lang="iw" sz="1300">
                <a:solidFill>
                  <a:schemeClr val="dk1"/>
                </a:solidFill>
                <a:highlight>
                  <a:srgbClr val="323232"/>
                </a:highlight>
                <a:latin typeface="Comic Sans MS"/>
                <a:ea typeface="Comic Sans MS"/>
                <a:cs typeface="Comic Sans MS"/>
                <a:sym typeface="Comic Sans MS"/>
              </a:rPr>
              <a:t>penguins</a:t>
            </a:r>
            <a:r>
              <a:rPr b="1" lang="iw" sz="1300">
                <a:solidFill>
                  <a:schemeClr val="dk1"/>
                </a:solidFill>
                <a:highlight>
                  <a:srgbClr val="323232"/>
                </a:highlight>
                <a:latin typeface="Comic Sans MS"/>
                <a:ea typeface="Comic Sans MS"/>
                <a:cs typeface="Comic Sans MS"/>
                <a:sym typeface="Comic Sans MS"/>
              </a:rPr>
              <a:t>,</a:t>
            </a:r>
            <a:r>
              <a:rPr lang="iw" sz="1300">
                <a:solidFill>
                  <a:schemeClr val="dk1"/>
                </a:solidFill>
                <a:highlight>
                  <a:srgbClr val="323232"/>
                </a:highlight>
                <a:latin typeface="Comic Sans MS"/>
                <a:ea typeface="Comic Sans MS"/>
                <a:cs typeface="Comic Sans MS"/>
                <a:sym typeface="Comic Sans MS"/>
              </a:rPr>
              <a:t> x</a:t>
            </a:r>
            <a:r>
              <a:rPr b="1" lang="iw" sz="1300">
                <a:solidFill>
                  <a:schemeClr val="dk1"/>
                </a:solidFill>
                <a:highlight>
                  <a:srgbClr val="323232"/>
                </a:highlight>
                <a:latin typeface="Comic Sans MS"/>
                <a:ea typeface="Comic Sans MS"/>
                <a:cs typeface="Comic Sans MS"/>
                <a:sym typeface="Comic Sans MS"/>
              </a:rPr>
              <a:t>=</a:t>
            </a:r>
            <a:r>
              <a:rPr lang="iw" sz="1300">
                <a:solidFill>
                  <a:schemeClr val="dk1"/>
                </a:solidFill>
                <a:highlight>
                  <a:srgbClr val="323232"/>
                </a:highlight>
                <a:latin typeface="Comic Sans MS"/>
                <a:ea typeface="Comic Sans MS"/>
                <a:cs typeface="Comic Sans MS"/>
                <a:sym typeface="Comic Sans MS"/>
              </a:rPr>
              <a:t>"island"</a:t>
            </a:r>
            <a:r>
              <a:rPr b="1" lang="iw" sz="1300">
                <a:solidFill>
                  <a:schemeClr val="dk1"/>
                </a:solidFill>
                <a:highlight>
                  <a:srgbClr val="323232"/>
                </a:highlight>
                <a:latin typeface="Comic Sans MS"/>
                <a:ea typeface="Comic Sans MS"/>
                <a:cs typeface="Comic Sans MS"/>
                <a:sym typeface="Comic Sans MS"/>
              </a:rPr>
              <a:t>,</a:t>
            </a:r>
            <a:r>
              <a:rPr lang="iw" sz="1300">
                <a:solidFill>
                  <a:schemeClr val="dk1"/>
                </a:solidFill>
                <a:highlight>
                  <a:srgbClr val="323232"/>
                </a:highlight>
                <a:latin typeface="Comic Sans MS"/>
                <a:ea typeface="Comic Sans MS"/>
                <a:cs typeface="Comic Sans MS"/>
                <a:sym typeface="Comic Sans MS"/>
              </a:rPr>
              <a:t> y</a:t>
            </a:r>
            <a:r>
              <a:rPr b="1" lang="iw" sz="1300">
                <a:solidFill>
                  <a:schemeClr val="dk1"/>
                </a:solidFill>
                <a:highlight>
                  <a:srgbClr val="323232"/>
                </a:highlight>
                <a:latin typeface="Comic Sans MS"/>
                <a:ea typeface="Comic Sans MS"/>
                <a:cs typeface="Comic Sans MS"/>
                <a:sym typeface="Comic Sans MS"/>
              </a:rPr>
              <a:t>=</a:t>
            </a:r>
            <a:r>
              <a:rPr lang="iw" sz="1300">
                <a:solidFill>
                  <a:schemeClr val="dk1"/>
                </a:solidFill>
                <a:highlight>
                  <a:srgbClr val="323232"/>
                </a:highlight>
                <a:latin typeface="Comic Sans MS"/>
                <a:ea typeface="Comic Sans MS"/>
                <a:cs typeface="Comic Sans MS"/>
                <a:sym typeface="Comic Sans MS"/>
              </a:rPr>
              <a:t>"body_mass_g"</a:t>
            </a:r>
            <a:r>
              <a:rPr b="1" lang="iw" sz="1300">
                <a:solidFill>
                  <a:schemeClr val="dk1"/>
                </a:solidFill>
                <a:highlight>
                  <a:srgbClr val="323232"/>
                </a:highlight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sz="1300">
              <a:solidFill>
                <a:schemeClr val="dk1"/>
              </a:solidFill>
              <a:highlight>
                <a:srgbClr val="323232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23046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23232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b="1" sz="1150">
              <a:highlight>
                <a:srgbClr val="F8F8F8"/>
              </a:highlight>
            </a:endParaRPr>
          </a:p>
        </p:txBody>
      </p:sp>
      <p:pic>
        <p:nvPicPr>
          <p:cNvPr id="158" name="Google Shape;1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7075" y="1185124"/>
            <a:ext cx="4413700" cy="3305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/>
        </p:nvSpPr>
        <p:spPr>
          <a:xfrm>
            <a:off x="3586550" y="315100"/>
            <a:ext cx="30000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1500">
                <a:solidFill>
                  <a:srgbClr val="BB9956"/>
                </a:solidFill>
                <a:latin typeface="Comic Sans MS"/>
                <a:ea typeface="Comic Sans MS"/>
                <a:cs typeface="Comic Sans MS"/>
                <a:sym typeface="Comic Sans MS"/>
              </a:rPr>
              <a:t>scaterplot</a:t>
            </a:r>
            <a:endParaRPr sz="1500">
              <a:solidFill>
                <a:srgbClr val="BB995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23046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000"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315100" y="4504025"/>
            <a:ext cx="434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accent6"/>
                </a:solidFill>
                <a:latin typeface="Comic Sans MS"/>
                <a:ea typeface="Comic Sans MS"/>
                <a:cs typeface="Comic Sans MS"/>
                <a:sym typeface="Comic Sans MS"/>
              </a:rPr>
              <a:t>https://seaborn.pydata.org/generated/seaborn.scatterplot.html</a:t>
            </a:r>
            <a:endParaRPr sz="1000">
              <a:solidFill>
                <a:schemeClr val="accent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2564475" y="750675"/>
            <a:ext cx="4615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sns.scatterplot(data=tips, x="total_bill", y="tip")</a:t>
            </a:r>
            <a:endParaRPr sz="1300">
              <a:solidFill>
                <a:schemeClr val="dk1"/>
              </a:solidFill>
              <a:highlight>
                <a:srgbClr val="000000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66" name="Google Shape;1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225" y="1271225"/>
            <a:ext cx="4253825" cy="328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/>
        </p:nvSpPr>
        <p:spPr>
          <a:xfrm>
            <a:off x="2523275" y="1817225"/>
            <a:ext cx="39471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3746150" y="231675"/>
            <a:ext cx="25392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3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1500">
                <a:solidFill>
                  <a:srgbClr val="BB9956"/>
                </a:solidFill>
                <a:latin typeface="Comic Sans MS"/>
                <a:ea typeface="Comic Sans MS"/>
                <a:cs typeface="Comic Sans MS"/>
                <a:sym typeface="Comic Sans MS"/>
              </a:rPr>
              <a:t>pairplot</a:t>
            </a:r>
            <a:endParaRPr sz="1500">
              <a:solidFill>
                <a:srgbClr val="BB995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305825" y="4504000"/>
            <a:ext cx="4170300" cy="3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accent6"/>
                </a:solidFill>
                <a:latin typeface="Comic Sans MS"/>
                <a:ea typeface="Comic Sans MS"/>
                <a:cs typeface="Comic Sans MS"/>
                <a:sym typeface="Comic Sans MS"/>
              </a:rPr>
              <a:t>https://seaborn.pydata.org/generated/seaborn.pairplot.html</a:t>
            </a:r>
            <a:endParaRPr sz="1000">
              <a:solidFill>
                <a:schemeClr val="accent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74" name="Google Shape;17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650" y="1013075"/>
            <a:ext cx="3820043" cy="33752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2765850" y="512475"/>
            <a:ext cx="457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</a:rPr>
              <a:t>sns.pairplot(penguins, hue="species")</a:t>
            </a:r>
            <a:endParaRPr sz="1300">
              <a:solidFill>
                <a:schemeClr val="dk1"/>
              </a:solidFill>
              <a:highlight>
                <a:schemeClr val="dk2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/>
        </p:nvSpPr>
        <p:spPr>
          <a:xfrm>
            <a:off x="2523275" y="1817225"/>
            <a:ext cx="39471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3829525" y="418575"/>
            <a:ext cx="116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500">
                <a:solidFill>
                  <a:srgbClr val="BB9956"/>
                </a:solidFill>
                <a:latin typeface="Comic Sans MS"/>
                <a:ea typeface="Comic Sans MS"/>
                <a:cs typeface="Comic Sans MS"/>
                <a:sym typeface="Comic Sans MS"/>
              </a:rPr>
              <a:t>boxplot</a:t>
            </a:r>
            <a:endParaRPr sz="1500">
              <a:solidFill>
                <a:srgbClr val="BB995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2910025" y="834075"/>
            <a:ext cx="3855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sns</a:t>
            </a:r>
            <a:r>
              <a:rPr b="1"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r>
              <a:rPr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boxplot</a:t>
            </a:r>
            <a:r>
              <a:rPr b="1"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(</a:t>
            </a:r>
            <a:r>
              <a:rPr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data</a:t>
            </a:r>
            <a:r>
              <a:rPr b="1"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=</a:t>
            </a:r>
            <a:r>
              <a:rPr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titanic</a:t>
            </a:r>
            <a:r>
              <a:rPr b="1"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,</a:t>
            </a:r>
            <a:r>
              <a:rPr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 x</a:t>
            </a:r>
            <a:r>
              <a:rPr b="1"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=</a:t>
            </a:r>
            <a:r>
              <a:rPr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"age"</a:t>
            </a:r>
            <a:r>
              <a:rPr b="1"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,</a:t>
            </a:r>
            <a:r>
              <a:rPr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 y</a:t>
            </a:r>
            <a:r>
              <a:rPr b="1"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=</a:t>
            </a:r>
            <a:r>
              <a:rPr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"class"</a:t>
            </a:r>
            <a:r>
              <a:rPr b="1" lang="iw" sz="1300">
                <a:solidFill>
                  <a:schemeClr val="dk1"/>
                </a:solidFill>
                <a:highlight>
                  <a:srgbClr val="000000"/>
                </a:highlight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sz="1300">
              <a:solidFill>
                <a:schemeClr val="dk1"/>
              </a:solidFill>
              <a:highlight>
                <a:srgbClr val="000000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324375" y="4522575"/>
            <a:ext cx="562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accent6"/>
                </a:solidFill>
                <a:latin typeface="Comic Sans MS"/>
                <a:ea typeface="Comic Sans MS"/>
                <a:cs typeface="Comic Sans MS"/>
                <a:sym typeface="Comic Sans MS"/>
              </a:rPr>
              <a:t>https://seaborn.pydata.org/generated/seaborn.boxplot.html#seaborn.boxplot</a:t>
            </a:r>
            <a:endParaRPr sz="1000">
              <a:solidFill>
                <a:schemeClr val="accent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84" name="Google Shape;1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441" y="1334100"/>
            <a:ext cx="4389334" cy="318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/>
        </p:nvSpPr>
        <p:spPr>
          <a:xfrm>
            <a:off x="2523275" y="1817225"/>
            <a:ext cx="39471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062600" y="342925"/>
            <a:ext cx="111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iw" sz="1500">
                <a:solidFill>
                  <a:srgbClr val="BB9956"/>
                </a:solidFill>
                <a:latin typeface="Comic Sans MS"/>
                <a:ea typeface="Comic Sans MS"/>
                <a:cs typeface="Comic Sans MS"/>
                <a:sym typeface="Comic Sans MS"/>
              </a:rPr>
              <a:t>heatmap</a:t>
            </a:r>
            <a:endParaRPr sz="1500">
              <a:solidFill>
                <a:srgbClr val="BB995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40950" y="4490925"/>
            <a:ext cx="451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accent6"/>
                </a:solidFill>
                <a:latin typeface="Comic Sans MS"/>
                <a:ea typeface="Comic Sans MS"/>
                <a:cs typeface="Comic Sans MS"/>
                <a:sym typeface="Comic Sans MS"/>
              </a:rPr>
              <a:t>https://seaborn.pydata.org/generated/seaborn.heatmap.html</a:t>
            </a:r>
            <a:endParaRPr sz="1000">
              <a:solidFill>
                <a:schemeClr val="accent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9975" y="999875"/>
            <a:ext cx="4868024" cy="338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3259502" y="627400"/>
            <a:ext cx="342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sns.heatmap(glue, annot=True)</a:t>
            </a:r>
            <a:endParaRPr sz="1300">
              <a:solidFill>
                <a:schemeClr val="dk1"/>
              </a:solidFill>
              <a:highlight>
                <a:schemeClr val="dk2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9525" y="1141725"/>
            <a:ext cx="4285800" cy="330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3781175" y="324375"/>
            <a:ext cx="2279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500">
                <a:solidFill>
                  <a:srgbClr val="BB9956"/>
                </a:solidFill>
                <a:highlight>
                  <a:srgbClr val="F5F5F5"/>
                </a:highlight>
                <a:latin typeface="Comic Sans MS"/>
                <a:ea typeface="Comic Sans MS"/>
                <a:cs typeface="Comic Sans MS"/>
                <a:sym typeface="Comic Sans MS"/>
              </a:rPr>
              <a:t>histplot</a:t>
            </a:r>
            <a:endParaRPr sz="1500">
              <a:solidFill>
                <a:srgbClr val="BB995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2084225" y="774975"/>
            <a:ext cx="55212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sns</a:t>
            </a:r>
            <a:r>
              <a:rPr b="1"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histplot</a:t>
            </a:r>
            <a:r>
              <a:rPr b="1"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(</a:t>
            </a: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data</a:t>
            </a:r>
            <a:r>
              <a:rPr b="1"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=</a:t>
            </a: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penguins</a:t>
            </a:r>
            <a:r>
              <a:rPr b="1"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,</a:t>
            </a: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 x</a:t>
            </a:r>
            <a:r>
              <a:rPr b="1"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=</a:t>
            </a: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"flipper_length_mm"</a:t>
            </a:r>
            <a:r>
              <a:rPr b="1"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,</a:t>
            </a: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 binwidth</a:t>
            </a:r>
            <a:r>
              <a:rPr b="1"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=</a:t>
            </a: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b="1"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sz="1300">
              <a:solidFill>
                <a:schemeClr val="dk1"/>
              </a:solidFill>
              <a:highlight>
                <a:schemeClr val="dk2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highlight>
                <a:srgbClr val="F8F8F8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315100" y="4448425"/>
            <a:ext cx="493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accent1"/>
                </a:solidFill>
                <a:latin typeface="Comic Sans MS"/>
                <a:ea typeface="Comic Sans MS"/>
                <a:cs typeface="Comic Sans MS"/>
                <a:sym typeface="Comic Sans MS"/>
              </a:rPr>
              <a:t>https://seaborn.pydata.org/generated/seaborn.heatmap.html</a:t>
            </a:r>
            <a:endParaRPr sz="1000">
              <a:solidFill>
                <a:schemeClr val="accen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/>
        </p:nvSpPr>
        <p:spPr>
          <a:xfrm>
            <a:off x="3950425" y="278800"/>
            <a:ext cx="10911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iw" sz="1500">
                <a:solidFill>
                  <a:srgbClr val="BB9956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violinplot</a:t>
            </a:r>
            <a:endParaRPr sz="1500">
              <a:solidFill>
                <a:srgbClr val="BB9956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2483700" y="3429000"/>
            <a:ext cx="670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sns.violinplot(data=df, x="class", y="age", hue="alive")</a:t>
            </a:r>
            <a:endParaRPr/>
          </a:p>
        </p:txBody>
      </p:sp>
      <p:pic>
        <p:nvPicPr>
          <p:cNvPr id="208" name="Google Shape;20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475" y="1171825"/>
            <a:ext cx="4381050" cy="338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240950" y="4485500"/>
            <a:ext cx="556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accent6"/>
                </a:solidFill>
                <a:latin typeface="Comic Sans MS"/>
                <a:ea typeface="Comic Sans MS"/>
                <a:cs typeface="Comic Sans MS"/>
                <a:sym typeface="Comic Sans MS"/>
              </a:rPr>
              <a:t>https://seaborn.pydata.org/generated/seaborn.violinplot.html</a:t>
            </a:r>
            <a:endParaRPr sz="1000">
              <a:solidFill>
                <a:schemeClr val="accent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2369125" y="732125"/>
            <a:ext cx="468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sns.violinplot(data=df, x="class", y="age", hue="alive")</a:t>
            </a:r>
            <a:endParaRPr sz="1300">
              <a:solidFill>
                <a:schemeClr val="dk1"/>
              </a:solidFill>
              <a:highlight>
                <a:schemeClr val="dk2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/>
        </p:nvSpPr>
        <p:spPr>
          <a:xfrm>
            <a:off x="2523275" y="1817225"/>
            <a:ext cx="39471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2298350" y="611650"/>
            <a:ext cx="586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penguins = sns.load_dataset("penguins")</a:t>
            </a:r>
            <a:endParaRPr sz="1300">
              <a:solidFill>
                <a:schemeClr val="dk1"/>
              </a:solidFill>
              <a:highlight>
                <a:schemeClr val="dk2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300">
                <a:solidFill>
                  <a:schemeClr val="dk1"/>
                </a:solidFill>
                <a:highlight>
                  <a:schemeClr val="dk2"/>
                </a:highlight>
                <a:latin typeface="Comic Sans MS"/>
                <a:ea typeface="Comic Sans MS"/>
                <a:cs typeface="Comic Sans MS"/>
                <a:sym typeface="Comic Sans MS"/>
              </a:rPr>
              <a:t>sns.jointplot(data=penguins, x="bill_length_mm", y="bill_depth_mm")</a:t>
            </a:r>
            <a:endParaRPr sz="1300">
              <a:solidFill>
                <a:schemeClr val="dk1"/>
              </a:solidFill>
              <a:highlight>
                <a:schemeClr val="dk2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157575" y="4420600"/>
            <a:ext cx="586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000">
                <a:solidFill>
                  <a:schemeClr val="accent6"/>
                </a:solidFill>
                <a:latin typeface="Comic Sans MS"/>
                <a:ea typeface="Comic Sans MS"/>
                <a:cs typeface="Comic Sans MS"/>
                <a:sym typeface="Comic Sans MS"/>
              </a:rPr>
              <a:t>https://seaborn.pydata.org/generated/seaborn.jointplot.html</a:t>
            </a:r>
            <a:endParaRPr sz="1000">
              <a:solidFill>
                <a:schemeClr val="accent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3470375" y="2724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" sz="1500">
                <a:solidFill>
                  <a:srgbClr val="BB9956"/>
                </a:solidFill>
                <a:latin typeface="Comic Sans MS"/>
                <a:ea typeface="Comic Sans MS"/>
                <a:cs typeface="Comic Sans MS"/>
                <a:sym typeface="Comic Sans MS"/>
              </a:rPr>
              <a:t>jointplot</a:t>
            </a:r>
            <a:endParaRPr sz="1500">
              <a:solidFill>
                <a:srgbClr val="BB995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19" name="Google Shape;2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6413" y="1298747"/>
            <a:ext cx="3200825" cy="3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